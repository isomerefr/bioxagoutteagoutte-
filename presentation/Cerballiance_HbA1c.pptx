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425a0c-c27f-eca9-10dd-3ad5292451bf}">
          <p14:sldIdLst>
            <p14:sldId id="256"/>
          </p14:sldIdLst>
        </p14:section>
        <p14:section name="Les bases" id="{6934a94e-84f6-09c0-66c0-d8ce21f3ea0c}">
          <p14:sldIdLst>
            <p14:sldId id="257"/>
          </p14:sldIdLst>
        </p14:section>
        <p14:section name="Au labo" id="{0d47e1e5-a059-2f2f-cd92-5df649598a29}">
          <p14:sldIdLst>
            <p14:sldId id="258"/>
          </p14:sldIdLst>
        </p14:section>
        <p14:section name="Vigilance" id="{4e978f32-d552-489a-d673-22722bce1bfe}">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pourquoi l'HbA1c est l'un des dosages les plus demandés en suivi du diabète. Insérez une photo de Harry Styles dans le cadre de droite (cliquez sur l'icône image du cadre). Vérifiez que vous disposez des droits d'utilisation de la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Unités : % (NGSP/DCCT) et mmol/mol (IFCC). Conversion : IFCC (mmol/mol) = (NGSP % − 2,15) × 10,929. Les objectifs sont individualisés par le clinicien.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l'importance des CIQ à chaque série et de la participation aux EEQ. Respecter la stabilité indiquée par le fournisseur de l'automate.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 l'HbA1c est un marqueur robuste mais pas infaillible. Toute situation modifiant la durée de vie des globules rouges fausse le résultat. En cas de variant, une méthode alternative ou la fructosamine peut être proposée par le biologiste.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F7B6CE"/>
        </a:solidFill>
      </p:bgPr>
    </p:bg>
    <p:spTree>
      <p:nvGrpSpPr>
        <p:cNvPr id="1" name=""/>
        <p:cNvGrpSpPr/>
        <p:nvPr/>
      </p:nvGrpSpPr>
      <p:grpSpPr>
        <a:xfrm>
          <a:off x="0" y="0"/>
          <a:ext cx="0" cy="0"/>
          <a:chOff x="0" y="0"/>
          <a:chExt cx="0" cy="0"/>
        </a:xfrm>
      </p:grpSpPr>
      <p:sp>
        <p:nvSpPr>
          <p:cNvPr id="2" name="Text 0"/>
          <p:cNvSpPr/>
          <p:nvPr>
            <p:ph idx="100" hasCustomPrompt="1"/>
          </p:nvPr>
        </p:nvSpPr>
        <p:spPr>
          <a:xfrm>
            <a:off x="5120640" y="502920"/>
            <a:ext cx="3566160" cy="411480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Insérez une photo de Harry Styles</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0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58521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hasCustomPrompt="1"/>
          </p:nvPr>
        </p:nvSpPr>
        <p:spPr>
          <a:xfrm>
            <a:off x="6629400" y="320040"/>
            <a:ext cx="2057400" cy="205740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Photo Harry Styles</a:t>
            </a:r>
            <a:endParaRPr lang="en-US" dirty="0"/>
          </a:p>
        </p:txBody>
      </p:sp>
      <p:sp>
        <p:nvSpPr>
          <p:cNvPr id="4"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i="1" dirty="0">
                <a:solidFill>
                  <a:schemeClr val="tx2"/>
                </a:solidFill>
              </a:rPr>
              <a:t>Cerballiance · Formation techniciens · HbA1c</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dre photo"/>
          <p:cNvSpPr/>
          <p:nvPr/>
        </p:nvSpPr>
        <p:spPr>
          <a:xfrm>
            <a:off x="5120640" y="502920"/>
            <a:ext cx="3566160" cy="4114800"/>
          </a:xfrm>
          <a:prstGeom prst="roundRect">
            <a:avLst>
              <a:gd name="adj" fmla="val 8974"/>
            </a:avLst>
          </a:prstGeom>
          <a:solidFill>
            <a:schemeClr val="bg1"/>
          </a:solidFill>
          <a:ln w="25400">
            <a:solidFill>
              <a:schemeClr val="accent1"/>
            </a:solidFill>
            <a:prstDash val="dash"/>
          </a:ln>
        </p:spPr>
      </p:sp>
      <p:pic>
        <p:nvPicPr>
          <p:cNvPr id="3" name="Cœur" descr="preencoded.png">    </p:cNvPr>
          <p:cNvPicPr>
            <a:picLocks noChangeAspect="1"/>
          </p:cNvPicPr>
          <p:nvPr/>
        </p:nvPicPr>
        <p:blipFill>
          <a:blip r:embed="rId1"/>
          <a:stretch>
            <a:fillRect/>
          </a:stretch>
        </p:blipFill>
        <p:spPr>
          <a:xfrm>
            <a:off x="6537960" y="1783080"/>
            <a:ext cx="731520" cy="731520"/>
          </a:xfrm>
          <a:prstGeom prst="rect">
            <a:avLst/>
          </a:prstGeom>
        </p:spPr>
      </p:pic>
      <p:sp>
        <p:nvSpPr>
          <p:cNvPr id="4" name="Légende photo"/>
          <p:cNvSpPr txBox="1"/>
          <p:nvPr/>
        </p:nvSpPr>
        <p:spPr>
          <a:xfrm>
            <a:off x="5212080" y="2606040"/>
            <a:ext cx="3383280" cy="731520"/>
          </a:xfrm>
          <a:prstGeom prst="rect">
            <a:avLst/>
          </a:prstGeom>
          <a:noFill/>
          <a:ln/>
        </p:spPr>
        <p:txBody>
          <a:bodyPr wrap="square" rtlCol="0" anchor="t"/>
          <a:lstStyle/>
          <a:p>
            <a:pPr algn="ctr" indent="0" marL="0">
              <a:buNone/>
            </a:pPr>
            <a:r>
              <a:rPr lang="en-US" sz="1400" i="1" dirty="0">
                <a:solidFill>
                  <a:schemeClr val="accent4"/>
                </a:solidFill>
              </a:rPr>
              <a:t>Insérez ici votre photo de Harry Styles</a:t>
            </a:r>
            <a:endParaRPr lang="en-US" sz="1400" dirty="0"/>
          </a:p>
        </p:txBody>
      </p:sp>
      <p:pic>
        <p:nvPicPr>
          <p:cNvPr id="5" name="Image 1" descr="preencoded.png">    </p:cNvPr>
          <p:cNvPicPr>
            <a:picLocks noChangeAspect="1"/>
          </p:cNvPicPr>
          <p:nvPr/>
        </p:nvPicPr>
        <p:blipFill>
          <a:blip r:embed="rId2"/>
          <a:stretch>
            <a:fillRect/>
          </a:stretch>
        </p:blipFill>
        <p:spPr>
          <a:xfrm>
            <a:off x="457200" y="548640"/>
            <a:ext cx="457200" cy="457200"/>
          </a:xfrm>
          <a:prstGeom prst="rect">
            <a:avLst/>
          </a:prstGeom>
        </p:spPr>
      </p:pic>
      <p:sp>
        <p:nvSpPr>
          <p:cNvPr id="6" name="Text 2"/>
          <p:cNvSpPr txBox="1"/>
          <p:nvPr/>
        </p:nvSpPr>
        <p:spPr>
          <a:xfrm>
            <a:off x="1051560" y="566928"/>
            <a:ext cx="3657600" cy="411480"/>
          </a:xfrm>
          <a:prstGeom prst="rect">
            <a:avLst/>
          </a:prstGeom>
          <a:noFill/>
          <a:ln/>
        </p:spPr>
        <p:txBody>
          <a:bodyPr wrap="square" lIns="0" tIns="0" rIns="0" bIns="0" rtlCol="0" anchor="ctr"/>
          <a:lstStyle/>
          <a:p>
            <a:pPr indent="0" marL="0">
              <a:buNone/>
            </a:pPr>
            <a:r>
              <a:rPr lang="en-US" sz="1300" b="1" spc="300" kern="0" dirty="0">
                <a:solidFill>
                  <a:schemeClr val="tx2"/>
                </a:solidFill>
              </a:rPr>
              <a:t>CERBALLIANCE · FORMATION</a:t>
            </a:r>
            <a:endParaRPr lang="en-US" sz="1300" dirty="0"/>
          </a:p>
        </p:txBody>
      </p:sp>
      <p:sp>
        <p:nvSpPr>
          <p:cNvPr id="7" name="Text 3"/>
          <p:cNvSpPr txBox="1"/>
          <p:nvPr/>
        </p:nvSpPr>
        <p:spPr>
          <a:xfrm>
            <a:off x="457200" y="1325880"/>
            <a:ext cx="4480560" cy="173736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L'HbA1c</a:t>
            </a:r>
            <a:endParaRPr lang="en-US" sz="5400" dirty="0"/>
          </a:p>
          <a:p>
            <a:pPr indent="0" marL="0">
              <a:buNone/>
            </a:pPr>
            <a:r>
              <a:rPr lang="en-US" sz="3000" i="1" dirty="0">
                <a:solidFill>
                  <a:schemeClr val="accent1"/>
                </a:solidFill>
                <a:latin typeface="Cambria" pitchFamily="34" charset="0"/>
                <a:ea typeface="Cambria" pitchFamily="34" charset="-122"/>
                <a:cs typeface="Cambria" pitchFamily="34" charset="-120"/>
              </a:rPr>
              <a:t>sans prise de tête</a:t>
            </a:r>
            <a:endParaRPr lang="en-US" sz="5400" dirty="0"/>
          </a:p>
        </p:txBody>
      </p:sp>
      <p:sp>
        <p:nvSpPr>
          <p:cNvPr id="8" name="Text 4"/>
          <p:cNvSpPr txBox="1"/>
          <p:nvPr/>
        </p:nvSpPr>
        <p:spPr>
          <a:xfrm>
            <a:off x="457200" y="3108960"/>
            <a:ext cx="4389120" cy="822960"/>
          </a:xfrm>
          <a:prstGeom prst="rect">
            <a:avLst/>
          </a:prstGeom>
          <a:noFill/>
          <a:ln/>
        </p:spPr>
        <p:txBody>
          <a:bodyPr wrap="square" lIns="0" tIns="0" rIns="0" bIns="0" rtlCol="0" anchor="t"/>
          <a:lstStyle/>
          <a:p>
            <a:pPr indent="0" marL="0">
              <a:buNone/>
            </a:pPr>
            <a:r>
              <a:rPr lang="en-US" sz="1600" dirty="0">
                <a:solidFill>
                  <a:schemeClr val="tx1"/>
                </a:solidFill>
              </a:rPr>
              <a:t>Ce que chaque technicien·ne doit savoir : principe, pré-analytique, méthodes et pièges d'interprétation</a:t>
            </a:r>
            <a:endParaRPr lang="en-US" sz="1600" dirty="0"/>
          </a:p>
        </p:txBody>
      </p:sp>
      <p:sp>
        <p:nvSpPr>
          <p:cNvPr id="9" name="Shape 5"/>
          <p:cNvSpPr/>
          <p:nvPr/>
        </p:nvSpPr>
        <p:spPr>
          <a:xfrm>
            <a:off x="457200" y="4069080"/>
            <a:ext cx="2377440" cy="411480"/>
          </a:xfrm>
          <a:prstGeom prst="roundRect">
            <a:avLst>
              <a:gd name="adj" fmla="val 48889"/>
            </a:avLst>
          </a:prstGeom>
          <a:solidFill>
            <a:schemeClr val="accent1"/>
          </a:solidFill>
          <a:ln/>
        </p:spPr>
      </p:sp>
      <p:sp>
        <p:nvSpPr>
          <p:cNvPr id="10" name="Text 6"/>
          <p:cNvSpPr txBox="1"/>
          <p:nvPr/>
        </p:nvSpPr>
        <p:spPr>
          <a:xfrm>
            <a:off x="457200" y="4069080"/>
            <a:ext cx="2377440" cy="411480"/>
          </a:xfrm>
          <a:prstGeom prst="rect">
            <a:avLst/>
          </a:prstGeom>
          <a:noFill/>
          <a:ln/>
        </p:spPr>
        <p:txBody>
          <a:bodyPr wrap="square" lIns="0" tIns="0" rIns="0" bIns="0" rtlCol="0" anchor="ctr"/>
          <a:lstStyle/>
          <a:p>
            <a:pPr algn="ctr" indent="0" marL="0">
              <a:buNone/>
            </a:pPr>
            <a:r>
              <a:rPr lang="en-US" sz="1200" b="1" dirty="0">
                <a:solidFill>
                  <a:schemeClr val="bg1"/>
                </a:solidFill>
              </a:rPr>
              <a:t>Techniciens de laboratoire</a:t>
            </a:r>
            <a:endParaRPr lang="en-US" sz="1200" dirty="0"/>
          </a:p>
        </p:txBody>
      </p:sp>
      <p:sp>
        <p:nvSpPr>
          <p:cNvPr id="12" name="Text 0"/>
          <p:cNvSpPr/>
          <p:nvPr>
            <p:ph idx="100" hasCustomPrompt="1"/>
          </p:nvPr>
        </p:nvSpPr>
        <p:spPr>
          <a:xfrm>
            <a:off x="5120640" y="502920"/>
            <a:ext cx="3566160" cy="4114800"/>
          </a:xfrm>
          <a:prstGeom prst="rect">
            <a:avLst/>
          </a:prstGeom>
          <a:noFill/>
          <a:ln/>
        </p:spPr>
        <p:txBody>
          <a:bodyPr wrap="square" rtlCol="0"/>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58521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C'est quoi, l'HbA1c ?</a:t>
            </a:r>
            <a:endParaRPr lang="en-US" sz="3200" dirty="0"/>
          </a:p>
        </p:txBody>
      </p:sp>
      <p:sp>
        <p:nvSpPr>
          <p:cNvPr id="3" name="Cadre photo"/>
          <p:cNvSpPr/>
          <p:nvPr/>
        </p:nvSpPr>
        <p:spPr>
          <a:xfrm>
            <a:off x="6629400" y="320040"/>
            <a:ext cx="2057400" cy="2057400"/>
          </a:xfrm>
          <a:prstGeom prst="roundRect">
            <a:avLst>
              <a:gd name="adj" fmla="val 15556"/>
            </a:avLst>
          </a:prstGeom>
          <a:solidFill>
            <a:schemeClr val="bg1"/>
          </a:solidFill>
          <a:ln w="25400">
            <a:solidFill>
              <a:schemeClr val="accent1"/>
            </a:solidFill>
            <a:prstDash val="dash"/>
          </a:ln>
        </p:spPr>
      </p:sp>
      <p:pic>
        <p:nvPicPr>
          <p:cNvPr id="4" name="Cœur" descr="preencoded.png">    </p:cNvPr>
          <p:cNvPicPr>
            <a:picLocks noChangeAspect="1"/>
          </p:cNvPicPr>
          <p:nvPr/>
        </p:nvPicPr>
        <p:blipFill>
          <a:blip r:embed="rId1"/>
          <a:stretch>
            <a:fillRect/>
          </a:stretch>
        </p:blipFill>
        <p:spPr>
          <a:xfrm>
            <a:off x="7452360" y="891540"/>
            <a:ext cx="411480" cy="411480"/>
          </a:xfrm>
          <a:prstGeom prst="rect">
            <a:avLst/>
          </a:prstGeom>
        </p:spPr>
      </p:pic>
      <p:sp>
        <p:nvSpPr>
          <p:cNvPr id="5" name="Légende photo"/>
          <p:cNvSpPr txBox="1"/>
          <p:nvPr/>
        </p:nvSpPr>
        <p:spPr>
          <a:xfrm>
            <a:off x="6720840" y="1394460"/>
            <a:ext cx="1874520" cy="548640"/>
          </a:xfrm>
          <a:prstGeom prst="rect">
            <a:avLst/>
          </a:prstGeom>
          <a:noFill/>
          <a:ln/>
        </p:spPr>
        <p:txBody>
          <a:bodyPr wrap="square" rtlCol="0" anchor="t"/>
          <a:lstStyle/>
          <a:p>
            <a:pPr algn="ctr" indent="0" marL="0">
              <a:buNone/>
            </a:pPr>
            <a:r>
              <a:rPr lang="en-US" sz="1100" i="1" dirty="0">
                <a:solidFill>
                  <a:schemeClr val="accent4"/>
                </a:solidFill>
              </a:rPr>
              <a:t>Photo Harry Styles</a:t>
            </a:r>
            <a:endParaRPr lang="en-US" sz="1100" dirty="0"/>
          </a:p>
        </p:txBody>
      </p:sp>
      <p:sp>
        <p:nvSpPr>
          <p:cNvPr id="6" name="Shape 3"/>
          <p:cNvSpPr/>
          <p:nvPr/>
        </p:nvSpPr>
        <p:spPr>
          <a:xfrm>
            <a:off x="457200" y="1234440"/>
            <a:ext cx="5852160" cy="1143000"/>
          </a:xfrm>
          <a:prstGeom prst="roundRect">
            <a:avLst>
              <a:gd name="adj" fmla="val 16000"/>
            </a:avLst>
          </a:prstGeom>
          <a:solidFill>
            <a:schemeClr val="bg1"/>
          </a:solidFill>
          <a:ln w="12700">
            <a:solidFill>
              <a:schemeClr val="accent3"/>
            </a:solidFill>
            <a:prstDash val="solid"/>
          </a:ln>
          <a:effectLst>
            <a:outerShdw sx="100000" sy="100000" kx="0" ky="0" algn="bl" rotWithShape="0" blurRad="76200" dist="25400" dir="5400000">
              <a:srgbClr val="E0457B">
                <a:alpha val="18000"/>
              </a:srgbClr>
            </a:outerShdw>
          </a:effectLst>
        </p:spPr>
      </p:sp>
      <p:sp>
        <p:nvSpPr>
          <p:cNvPr id="7" name="Shape 4"/>
          <p:cNvSpPr/>
          <p:nvPr/>
        </p:nvSpPr>
        <p:spPr>
          <a:xfrm>
            <a:off x="640080" y="1554480"/>
            <a:ext cx="502920" cy="50292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65810" y="1680210"/>
            <a:ext cx="251460" cy="251460"/>
          </a:xfrm>
          <a:prstGeom prst="rect">
            <a:avLst/>
          </a:prstGeom>
        </p:spPr>
      </p:pic>
      <p:sp>
        <p:nvSpPr>
          <p:cNvPr id="9" name="Text 5"/>
          <p:cNvSpPr txBox="1"/>
          <p:nvPr/>
        </p:nvSpPr>
        <p:spPr>
          <a:xfrm>
            <a:off x="1325880" y="1280160"/>
            <a:ext cx="4846320" cy="1051560"/>
          </a:xfrm>
          <a:prstGeom prst="rect">
            <a:avLst/>
          </a:prstGeom>
          <a:noFill/>
          <a:ln/>
        </p:spPr>
        <p:txBody>
          <a:bodyPr wrap="square" lIns="0" tIns="0" rIns="0" bIns="0" rtlCol="0" anchor="ctr"/>
          <a:lstStyle/>
          <a:p>
            <a:pPr indent="0" marL="0">
              <a:buNone/>
            </a:pPr>
            <a:r>
              <a:rPr lang="en-US" sz="1400" b="1" dirty="0">
                <a:solidFill>
                  <a:schemeClr val="tx1"/>
                </a:solidFill>
              </a:rPr>
              <a:t>Glycation non enzymatique </a:t>
            </a:r>
            <a:pPr indent="0" marL="0">
              <a:buNone/>
            </a:pPr>
            <a:r>
              <a:rPr lang="en-US" sz="1400" dirty="0">
                <a:solidFill>
                  <a:schemeClr val="tx1"/>
                </a:solidFill>
              </a:rPr>
              <a:t>de l'hémoglobine A par le glucose. Les globules rouges vivant ~120 jours, l'HbA1c reflète la glycémie moyenne des </a:t>
            </a:r>
            <a:pPr indent="0" marL="0">
              <a:buNone/>
            </a:pPr>
            <a:r>
              <a:rPr lang="en-US" sz="1400" b="1" dirty="0">
                <a:solidFill>
                  <a:schemeClr val="accent1"/>
                </a:solidFill>
              </a:rPr>
              <a:t>2 à 3 derniers mois.</a:t>
            </a:r>
            <a:endParaRPr lang="en-US" sz="1400" dirty="0"/>
          </a:p>
        </p:txBody>
      </p:sp>
      <p:sp>
        <p:nvSpPr>
          <p:cNvPr id="10" name="Shape 6"/>
          <p:cNvSpPr/>
          <p:nvPr/>
        </p:nvSpPr>
        <p:spPr>
          <a:xfrm>
            <a:off x="457200" y="2697480"/>
            <a:ext cx="2560320" cy="1874520"/>
          </a:xfrm>
          <a:prstGeom prst="roundRect">
            <a:avLst>
              <a:gd name="adj" fmla="val 12195"/>
            </a:avLst>
          </a:prstGeom>
          <a:solidFill>
            <a:schemeClr val="accent3"/>
          </a:solidFill>
          <a:ln/>
        </p:spPr>
      </p:sp>
      <p:sp>
        <p:nvSpPr>
          <p:cNvPr id="11" name="Text 7"/>
          <p:cNvSpPr txBox="1"/>
          <p:nvPr/>
        </p:nvSpPr>
        <p:spPr>
          <a:xfrm>
            <a:off x="457200" y="2788920"/>
            <a:ext cx="2560320" cy="77724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&lt; 6 %</a:t>
            </a:r>
            <a:endParaRPr lang="en-US" sz="4000" dirty="0"/>
          </a:p>
        </p:txBody>
      </p:sp>
      <p:sp>
        <p:nvSpPr>
          <p:cNvPr id="12" name="Text 8"/>
          <p:cNvSpPr txBox="1"/>
          <p:nvPr/>
        </p:nvSpPr>
        <p:spPr>
          <a:xfrm>
            <a:off x="457200" y="3566160"/>
            <a:ext cx="2560320" cy="320040"/>
          </a:xfrm>
          <a:prstGeom prst="rect">
            <a:avLst/>
          </a:prstGeom>
          <a:noFill/>
          <a:ln/>
        </p:spPr>
        <p:txBody>
          <a:bodyPr wrap="square" lIns="0" tIns="0" rIns="0" bIns="0" rtlCol="0" anchor="ctr"/>
          <a:lstStyle/>
          <a:p>
            <a:pPr algn="ctr" indent="0" marL="0">
              <a:buNone/>
            </a:pPr>
            <a:r>
              <a:rPr lang="en-US" sz="1400" i="1" dirty="0">
                <a:solidFill>
                  <a:schemeClr val="tx1"/>
                </a:solidFill>
              </a:rPr>
              <a:t>≈ 42 mmol/mol</a:t>
            </a:r>
            <a:endParaRPr lang="en-US" sz="1400" dirty="0"/>
          </a:p>
        </p:txBody>
      </p:sp>
      <p:sp>
        <p:nvSpPr>
          <p:cNvPr id="13" name="Text 9"/>
          <p:cNvSpPr txBox="1"/>
          <p:nvPr/>
        </p:nvSpPr>
        <p:spPr>
          <a:xfrm>
            <a:off x="594360" y="3931920"/>
            <a:ext cx="2286000" cy="548640"/>
          </a:xfrm>
          <a:prstGeom prst="rect">
            <a:avLst/>
          </a:prstGeom>
          <a:noFill/>
          <a:ln/>
        </p:spPr>
        <p:txBody>
          <a:bodyPr wrap="square" lIns="0" tIns="0" rIns="0" bIns="0" rtlCol="0" anchor="t"/>
          <a:lstStyle/>
          <a:p>
            <a:pPr algn="ctr" indent="0" marL="0">
              <a:buNone/>
            </a:pPr>
            <a:r>
              <a:rPr lang="en-US" sz="1300" b="1" dirty="0">
                <a:solidFill>
                  <a:schemeClr val="tx1"/>
                </a:solidFill>
              </a:rPr>
              <a:t>Valeur normale</a:t>
            </a:r>
            <a:endParaRPr lang="en-US" sz="1300" dirty="0"/>
          </a:p>
        </p:txBody>
      </p:sp>
      <p:sp>
        <p:nvSpPr>
          <p:cNvPr id="14" name="Shape 10"/>
          <p:cNvSpPr/>
          <p:nvPr/>
        </p:nvSpPr>
        <p:spPr>
          <a:xfrm>
            <a:off x="3246120" y="2697480"/>
            <a:ext cx="2560320" cy="1874520"/>
          </a:xfrm>
          <a:prstGeom prst="roundRect">
            <a:avLst>
              <a:gd name="adj" fmla="val 12195"/>
            </a:avLst>
          </a:prstGeom>
          <a:solidFill>
            <a:schemeClr val="accent1"/>
          </a:solidFill>
          <a:ln/>
        </p:spPr>
      </p:sp>
      <p:sp>
        <p:nvSpPr>
          <p:cNvPr id="15" name="Text 11"/>
          <p:cNvSpPr txBox="1"/>
          <p:nvPr/>
        </p:nvSpPr>
        <p:spPr>
          <a:xfrm>
            <a:off x="3246120" y="2788920"/>
            <a:ext cx="2560320" cy="77724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 6,5 %</a:t>
            </a:r>
            <a:endParaRPr lang="en-US" sz="4000" dirty="0"/>
          </a:p>
        </p:txBody>
      </p:sp>
      <p:sp>
        <p:nvSpPr>
          <p:cNvPr id="16" name="Text 12"/>
          <p:cNvSpPr txBox="1"/>
          <p:nvPr/>
        </p:nvSpPr>
        <p:spPr>
          <a:xfrm>
            <a:off x="3246120" y="3566160"/>
            <a:ext cx="2560320" cy="320040"/>
          </a:xfrm>
          <a:prstGeom prst="rect">
            <a:avLst/>
          </a:prstGeom>
          <a:noFill/>
          <a:ln/>
        </p:spPr>
        <p:txBody>
          <a:bodyPr wrap="square" lIns="0" tIns="0" rIns="0" bIns="0" rtlCol="0" anchor="ctr"/>
          <a:lstStyle/>
          <a:p>
            <a:pPr algn="ctr" indent="0" marL="0">
              <a:buNone/>
            </a:pPr>
            <a:r>
              <a:rPr lang="en-US" sz="1400" i="1" dirty="0">
                <a:solidFill>
                  <a:schemeClr val="bg1"/>
                </a:solidFill>
              </a:rPr>
              <a:t>48 mmol/mol</a:t>
            </a:r>
            <a:endParaRPr lang="en-US" sz="1400" dirty="0"/>
          </a:p>
        </p:txBody>
      </p:sp>
      <p:sp>
        <p:nvSpPr>
          <p:cNvPr id="17" name="Text 13"/>
          <p:cNvSpPr txBox="1"/>
          <p:nvPr/>
        </p:nvSpPr>
        <p:spPr>
          <a:xfrm>
            <a:off x="3383280" y="3931920"/>
            <a:ext cx="2286000" cy="548640"/>
          </a:xfrm>
          <a:prstGeom prst="rect">
            <a:avLst/>
          </a:prstGeom>
          <a:noFill/>
          <a:ln/>
        </p:spPr>
        <p:txBody>
          <a:bodyPr wrap="square" lIns="0" tIns="0" rIns="0" bIns="0" rtlCol="0" anchor="t"/>
          <a:lstStyle/>
          <a:p>
            <a:pPr algn="ctr" indent="0" marL="0">
              <a:buNone/>
            </a:pPr>
            <a:r>
              <a:rPr lang="en-US" sz="1300" b="1" dirty="0">
                <a:solidFill>
                  <a:schemeClr val="bg1"/>
                </a:solidFill>
              </a:rPr>
              <a:t>Seuil diagnostique du diabète</a:t>
            </a:r>
            <a:endParaRPr lang="en-US" sz="1300" dirty="0"/>
          </a:p>
        </p:txBody>
      </p:sp>
      <p:sp>
        <p:nvSpPr>
          <p:cNvPr id="18" name="Shape 14"/>
          <p:cNvSpPr/>
          <p:nvPr/>
        </p:nvSpPr>
        <p:spPr>
          <a:xfrm>
            <a:off x="6035040" y="2697480"/>
            <a:ext cx="2560320" cy="1874520"/>
          </a:xfrm>
          <a:prstGeom prst="roundRect">
            <a:avLst>
              <a:gd name="adj" fmla="val 12195"/>
            </a:avLst>
          </a:prstGeom>
          <a:solidFill>
            <a:schemeClr val="accent3"/>
          </a:solidFill>
          <a:ln/>
        </p:spPr>
      </p:sp>
      <p:sp>
        <p:nvSpPr>
          <p:cNvPr id="19" name="Text 15"/>
          <p:cNvSpPr txBox="1"/>
          <p:nvPr/>
        </p:nvSpPr>
        <p:spPr>
          <a:xfrm>
            <a:off x="6035040" y="2788920"/>
            <a:ext cx="2560320" cy="77724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 7 %</a:t>
            </a:r>
            <a:endParaRPr lang="en-US" sz="4000" dirty="0"/>
          </a:p>
        </p:txBody>
      </p:sp>
      <p:sp>
        <p:nvSpPr>
          <p:cNvPr id="20" name="Text 16"/>
          <p:cNvSpPr txBox="1"/>
          <p:nvPr/>
        </p:nvSpPr>
        <p:spPr>
          <a:xfrm>
            <a:off x="6035040" y="3566160"/>
            <a:ext cx="2560320" cy="320040"/>
          </a:xfrm>
          <a:prstGeom prst="rect">
            <a:avLst/>
          </a:prstGeom>
          <a:noFill/>
          <a:ln/>
        </p:spPr>
        <p:txBody>
          <a:bodyPr wrap="square" lIns="0" tIns="0" rIns="0" bIns="0" rtlCol="0" anchor="ctr"/>
          <a:lstStyle/>
          <a:p>
            <a:pPr algn="ctr" indent="0" marL="0">
              <a:buNone/>
            </a:pPr>
            <a:r>
              <a:rPr lang="en-US" sz="1400" i="1" dirty="0">
                <a:solidFill>
                  <a:schemeClr val="tx1"/>
                </a:solidFill>
              </a:rPr>
              <a:t>53 mmol/mol</a:t>
            </a:r>
            <a:endParaRPr lang="en-US" sz="1400" dirty="0"/>
          </a:p>
        </p:txBody>
      </p:sp>
      <p:sp>
        <p:nvSpPr>
          <p:cNvPr id="21" name="Text 17"/>
          <p:cNvSpPr txBox="1"/>
          <p:nvPr/>
        </p:nvSpPr>
        <p:spPr>
          <a:xfrm>
            <a:off x="6172200" y="3931920"/>
            <a:ext cx="2286000" cy="548640"/>
          </a:xfrm>
          <a:prstGeom prst="rect">
            <a:avLst/>
          </a:prstGeom>
          <a:noFill/>
          <a:ln/>
        </p:spPr>
        <p:txBody>
          <a:bodyPr wrap="square" lIns="0" tIns="0" rIns="0" bIns="0" rtlCol="0" anchor="t"/>
          <a:lstStyle/>
          <a:p>
            <a:pPr algn="ctr" indent="0" marL="0">
              <a:buNone/>
            </a:pPr>
            <a:r>
              <a:rPr lang="en-US" sz="1300" b="1" dirty="0">
                <a:solidFill>
                  <a:schemeClr val="tx1"/>
                </a:solidFill>
              </a:rPr>
              <a:t>Objectif usuel du patient diabétique</a:t>
            </a:r>
            <a:endParaRPr lang="en-US" sz="1300" dirty="0"/>
          </a:p>
        </p:txBody>
      </p:sp>
      <p:sp>
        <p:nvSpPr>
          <p:cNvPr id="23" name="Text 0"/>
          <p:cNvSpPr/>
          <p:nvPr>
            <p:ph idx="101" hasCustomPrompt="1"/>
          </p:nvPr>
        </p:nvSpPr>
        <p:spPr>
          <a:xfrm>
            <a:off x="6629400" y="320040"/>
            <a:ext cx="2057400" cy="205740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58521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Du tube au résultat</a:t>
            </a:r>
            <a:endParaRPr lang="en-US" sz="3200" dirty="0"/>
          </a:p>
        </p:txBody>
      </p:sp>
      <p:sp>
        <p:nvSpPr>
          <p:cNvPr id="3" name="Cadre photo"/>
          <p:cNvSpPr/>
          <p:nvPr/>
        </p:nvSpPr>
        <p:spPr>
          <a:xfrm>
            <a:off x="6629400" y="320040"/>
            <a:ext cx="2057400" cy="2057400"/>
          </a:xfrm>
          <a:prstGeom prst="roundRect">
            <a:avLst>
              <a:gd name="adj" fmla="val 15556"/>
            </a:avLst>
          </a:prstGeom>
          <a:solidFill>
            <a:schemeClr val="bg1"/>
          </a:solidFill>
          <a:ln w="25400">
            <a:solidFill>
              <a:schemeClr val="accent1"/>
            </a:solidFill>
            <a:prstDash val="dash"/>
          </a:ln>
        </p:spPr>
      </p:sp>
      <p:pic>
        <p:nvPicPr>
          <p:cNvPr id="4" name="Cœur" descr="preencoded.png">    </p:cNvPr>
          <p:cNvPicPr>
            <a:picLocks noChangeAspect="1"/>
          </p:cNvPicPr>
          <p:nvPr/>
        </p:nvPicPr>
        <p:blipFill>
          <a:blip r:embed="rId1"/>
          <a:stretch>
            <a:fillRect/>
          </a:stretch>
        </p:blipFill>
        <p:spPr>
          <a:xfrm>
            <a:off x="7452360" y="891540"/>
            <a:ext cx="411480" cy="411480"/>
          </a:xfrm>
          <a:prstGeom prst="rect">
            <a:avLst/>
          </a:prstGeom>
        </p:spPr>
      </p:pic>
      <p:sp>
        <p:nvSpPr>
          <p:cNvPr id="5" name="Légende photo"/>
          <p:cNvSpPr txBox="1"/>
          <p:nvPr/>
        </p:nvSpPr>
        <p:spPr>
          <a:xfrm>
            <a:off x="6720840" y="1394460"/>
            <a:ext cx="1874520" cy="548640"/>
          </a:xfrm>
          <a:prstGeom prst="rect">
            <a:avLst/>
          </a:prstGeom>
          <a:noFill/>
          <a:ln/>
        </p:spPr>
        <p:txBody>
          <a:bodyPr wrap="square" rtlCol="0" anchor="t"/>
          <a:lstStyle/>
          <a:p>
            <a:pPr algn="ctr" indent="0" marL="0">
              <a:buNone/>
            </a:pPr>
            <a:r>
              <a:rPr lang="en-US" sz="1100" i="1" dirty="0">
                <a:solidFill>
                  <a:schemeClr val="accent4"/>
                </a:solidFill>
              </a:rPr>
              <a:t>Photo Harry Styles</a:t>
            </a:r>
            <a:endParaRPr lang="en-US" sz="1100" dirty="0"/>
          </a:p>
        </p:txBody>
      </p:sp>
      <p:sp>
        <p:nvSpPr>
          <p:cNvPr id="6" name="Text 3"/>
          <p:cNvSpPr txBox="1"/>
          <p:nvPr/>
        </p:nvSpPr>
        <p:spPr>
          <a:xfrm>
            <a:off x="457200" y="1188720"/>
            <a:ext cx="2926080" cy="365760"/>
          </a:xfrm>
          <a:prstGeom prst="rect">
            <a:avLst/>
          </a:prstGeom>
          <a:noFill/>
          <a:ln/>
        </p:spPr>
        <p:txBody>
          <a:bodyPr wrap="square" lIns="0" tIns="0" rIns="0" bIns="0" rtlCol="0" anchor="ctr"/>
          <a:lstStyle/>
          <a:p>
            <a:pPr indent="0" marL="0">
              <a:buNone/>
            </a:pPr>
            <a:r>
              <a:rPr lang="en-US" sz="1800" b="1" dirty="0">
                <a:solidFill>
                  <a:schemeClr val="accent4"/>
                </a:solidFill>
              </a:rPr>
              <a:t>Pré-analytique</a:t>
            </a:r>
            <a:endParaRPr lang="en-US" sz="1800" dirty="0"/>
          </a:p>
        </p:txBody>
      </p:sp>
      <p:sp>
        <p:nvSpPr>
          <p:cNvPr id="7" name="Shape 4"/>
          <p:cNvSpPr/>
          <p:nvPr/>
        </p:nvSpPr>
        <p:spPr>
          <a:xfrm>
            <a:off x="457200" y="1691640"/>
            <a:ext cx="502920" cy="50292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582930" y="1817370"/>
            <a:ext cx="251460" cy="251460"/>
          </a:xfrm>
          <a:prstGeom prst="rect">
            <a:avLst/>
          </a:prstGeom>
        </p:spPr>
      </p:pic>
      <p:sp>
        <p:nvSpPr>
          <p:cNvPr id="9" name="Text 5"/>
          <p:cNvSpPr txBox="1"/>
          <p:nvPr/>
        </p:nvSpPr>
        <p:spPr>
          <a:xfrm>
            <a:off x="1097280" y="1600200"/>
            <a:ext cx="2377440" cy="777240"/>
          </a:xfrm>
          <a:prstGeom prst="rect">
            <a:avLst/>
          </a:prstGeom>
          <a:noFill/>
          <a:ln/>
        </p:spPr>
        <p:txBody>
          <a:bodyPr wrap="square" lIns="0" tIns="0" rIns="0" bIns="0" rtlCol="0" anchor="t"/>
          <a:lstStyle/>
          <a:p>
            <a:pPr indent="0" marL="0">
              <a:buNone/>
            </a:pPr>
            <a:r>
              <a:rPr lang="en-US" sz="1400" b="1" dirty="0">
                <a:solidFill>
                  <a:schemeClr val="tx1"/>
                </a:solidFill>
              </a:rPr>
              <a:t>Tube EDTA, sang total</a:t>
            </a:r>
            <a:endParaRPr lang="en-US" sz="1400" dirty="0"/>
          </a:p>
          <a:p>
            <a:pPr indent="0" marL="0">
              <a:buNone/>
            </a:pPr>
            <a:r>
              <a:rPr lang="en-US" sz="1200" dirty="0">
                <a:solidFill>
                  <a:schemeClr val="tx1"/>
                </a:solidFill>
              </a:rPr>
              <a:t>Mélanger par retournements doux avant analyse</a:t>
            </a:r>
            <a:endParaRPr lang="en-US" sz="1400" dirty="0"/>
          </a:p>
        </p:txBody>
      </p:sp>
      <p:sp>
        <p:nvSpPr>
          <p:cNvPr id="10" name="Shape 6"/>
          <p:cNvSpPr/>
          <p:nvPr/>
        </p:nvSpPr>
        <p:spPr>
          <a:xfrm>
            <a:off x="457200" y="2697480"/>
            <a:ext cx="502920" cy="50292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582930" y="2823210"/>
            <a:ext cx="251460" cy="251460"/>
          </a:xfrm>
          <a:prstGeom prst="rect">
            <a:avLst/>
          </a:prstGeom>
        </p:spPr>
      </p:pic>
      <p:sp>
        <p:nvSpPr>
          <p:cNvPr id="12" name="Text 7"/>
          <p:cNvSpPr txBox="1"/>
          <p:nvPr/>
        </p:nvSpPr>
        <p:spPr>
          <a:xfrm>
            <a:off x="1097280" y="2606040"/>
            <a:ext cx="2377440" cy="777240"/>
          </a:xfrm>
          <a:prstGeom prst="rect">
            <a:avLst/>
          </a:prstGeom>
          <a:noFill/>
          <a:ln/>
        </p:spPr>
        <p:txBody>
          <a:bodyPr wrap="square" lIns="0" tIns="0" rIns="0" bIns="0" rtlCol="0" anchor="t"/>
          <a:lstStyle/>
          <a:p>
            <a:pPr indent="0" marL="0">
              <a:buNone/>
            </a:pPr>
            <a:r>
              <a:rPr lang="en-US" sz="1400" b="1" dirty="0">
                <a:solidFill>
                  <a:schemeClr val="tx1"/>
                </a:solidFill>
              </a:rPr>
              <a:t>Pas besoin d'être à jeun</a:t>
            </a:r>
            <a:endParaRPr lang="en-US" sz="1400" dirty="0"/>
          </a:p>
          <a:p>
            <a:pPr indent="0" marL="0">
              <a:buNone/>
            </a:pPr>
            <a:r>
              <a:rPr lang="en-US" sz="1200" dirty="0">
                <a:solidFill>
                  <a:schemeClr val="tx1"/>
                </a:solidFill>
              </a:rPr>
              <a:t>Prélèvement possible à toute heure</a:t>
            </a:r>
            <a:endParaRPr lang="en-US" sz="1400" dirty="0"/>
          </a:p>
        </p:txBody>
      </p:sp>
      <p:sp>
        <p:nvSpPr>
          <p:cNvPr id="13" name="Shape 8"/>
          <p:cNvSpPr/>
          <p:nvPr/>
        </p:nvSpPr>
        <p:spPr>
          <a:xfrm>
            <a:off x="457200" y="3703320"/>
            <a:ext cx="502920" cy="50292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582930" y="3829050"/>
            <a:ext cx="251460" cy="251460"/>
          </a:xfrm>
          <a:prstGeom prst="rect">
            <a:avLst/>
          </a:prstGeom>
        </p:spPr>
      </p:pic>
      <p:sp>
        <p:nvSpPr>
          <p:cNvPr id="15" name="Text 9"/>
          <p:cNvSpPr txBox="1"/>
          <p:nvPr/>
        </p:nvSpPr>
        <p:spPr>
          <a:xfrm>
            <a:off x="1097280" y="3611880"/>
            <a:ext cx="2377440" cy="777240"/>
          </a:xfrm>
          <a:prstGeom prst="rect">
            <a:avLst/>
          </a:prstGeom>
          <a:noFill/>
          <a:ln/>
        </p:spPr>
        <p:txBody>
          <a:bodyPr wrap="square" lIns="0" tIns="0" rIns="0" bIns="0" rtlCol="0" anchor="t"/>
          <a:lstStyle/>
          <a:p>
            <a:pPr indent="0" marL="0">
              <a:buNone/>
            </a:pPr>
            <a:r>
              <a:rPr lang="en-US" sz="1400" b="1" dirty="0">
                <a:solidFill>
                  <a:schemeClr val="tx1"/>
                </a:solidFill>
              </a:rPr>
              <a:t>Conservation</a:t>
            </a:r>
            <a:endParaRPr lang="en-US" sz="1400" dirty="0"/>
          </a:p>
          <a:p>
            <a:pPr indent="0" marL="0">
              <a:buNone/>
            </a:pPr>
            <a:r>
              <a:rPr lang="en-US" sz="1200" dirty="0">
                <a:solidFill>
                  <a:schemeClr val="tx1"/>
                </a:solidFill>
              </a:rPr>
              <a:t>Plusieurs jours à +2/+8 °C (selon fiche fournisseur)</a:t>
            </a:r>
            <a:endParaRPr lang="en-US" sz="1400" dirty="0"/>
          </a:p>
        </p:txBody>
      </p:sp>
      <p:sp>
        <p:nvSpPr>
          <p:cNvPr id="16" name="Shape 10"/>
          <p:cNvSpPr/>
          <p:nvPr/>
        </p:nvSpPr>
        <p:spPr>
          <a:xfrm>
            <a:off x="3749040" y="2606040"/>
            <a:ext cx="4937760" cy="1965960"/>
          </a:xfrm>
          <a:prstGeom prst="roundRect">
            <a:avLst>
              <a:gd name="adj" fmla="val 11628"/>
            </a:avLst>
          </a:prstGeom>
          <a:solidFill>
            <a:schemeClr val="bg1"/>
          </a:solidFill>
          <a:ln w="19050">
            <a:solidFill>
              <a:schemeClr val="accent2"/>
            </a:solidFill>
            <a:prstDash val="solid"/>
          </a:ln>
        </p:spPr>
      </p:sp>
      <p:sp>
        <p:nvSpPr>
          <p:cNvPr id="17" name="Shape 11"/>
          <p:cNvSpPr/>
          <p:nvPr/>
        </p:nvSpPr>
        <p:spPr>
          <a:xfrm>
            <a:off x="3931920" y="2743200"/>
            <a:ext cx="457200" cy="45720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4046220" y="2857500"/>
            <a:ext cx="228600" cy="228600"/>
          </a:xfrm>
          <a:prstGeom prst="rect">
            <a:avLst/>
          </a:prstGeom>
        </p:spPr>
      </p:pic>
      <p:sp>
        <p:nvSpPr>
          <p:cNvPr id="19" name="Text 12"/>
          <p:cNvSpPr txBox="1"/>
          <p:nvPr/>
        </p:nvSpPr>
        <p:spPr>
          <a:xfrm>
            <a:off x="4526280" y="2743200"/>
            <a:ext cx="3931920" cy="457200"/>
          </a:xfrm>
          <a:prstGeom prst="rect">
            <a:avLst/>
          </a:prstGeom>
          <a:noFill/>
          <a:ln/>
        </p:spPr>
        <p:txBody>
          <a:bodyPr wrap="square" lIns="0" tIns="0" rIns="0" bIns="0" rtlCol="0" anchor="ctr"/>
          <a:lstStyle/>
          <a:p>
            <a:pPr indent="0" marL="0">
              <a:buNone/>
            </a:pPr>
            <a:r>
              <a:rPr lang="en-US" sz="1800" b="1" dirty="0">
                <a:solidFill>
                  <a:schemeClr val="accent4"/>
                </a:solidFill>
              </a:rPr>
              <a:t>Méthodes de dosage</a:t>
            </a:r>
            <a:endParaRPr lang="en-US" sz="1800" dirty="0"/>
          </a:p>
        </p:txBody>
      </p:sp>
      <p:sp>
        <p:nvSpPr>
          <p:cNvPr id="20" name="Text 13"/>
          <p:cNvSpPr txBox="1"/>
          <p:nvPr/>
        </p:nvSpPr>
        <p:spPr>
          <a:xfrm>
            <a:off x="3977640" y="3246120"/>
            <a:ext cx="457200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HPLC échange d'ions — méthode de référence, détecte les variants</a:t>
            </a:r>
            <a:endParaRPr lang="en-US" sz="1300" dirty="0"/>
          </a:p>
          <a:p>
            <a:pPr marL="342900" indent="-342900">
              <a:spcAft>
                <a:spcPts val="400"/>
              </a:spcAft>
              <a:buSzPct val="100000"/>
              <a:buChar char="•"/>
            </a:pPr>
            <a:r>
              <a:rPr lang="en-US" sz="1300" dirty="0">
                <a:solidFill>
                  <a:schemeClr val="tx1"/>
                </a:solidFill>
              </a:rPr>
              <a:t>Électrophorèse capillaire</a:t>
            </a:r>
            <a:endParaRPr lang="en-US" sz="1300" dirty="0"/>
          </a:p>
          <a:p>
            <a:pPr marL="342900" indent="-342900">
              <a:spcAft>
                <a:spcPts val="400"/>
              </a:spcAft>
              <a:buSzPct val="100000"/>
              <a:buChar char="•"/>
            </a:pPr>
            <a:r>
              <a:rPr lang="en-US" sz="1300" dirty="0">
                <a:solidFill>
                  <a:schemeClr val="tx1"/>
                </a:solidFill>
              </a:rPr>
              <a:t>Immunoturbidimétrie &amp; méthodes enzymatiques</a:t>
            </a:r>
            <a:endParaRPr lang="en-US" sz="1300" dirty="0"/>
          </a:p>
          <a:p>
            <a:pPr marL="342900" indent="-342900">
              <a:spcAft>
                <a:spcPts val="400"/>
              </a:spcAft>
              <a:buSzPct val="100000"/>
              <a:buChar char="•"/>
            </a:pPr>
            <a:r>
              <a:rPr lang="en-US" sz="1300" dirty="0">
                <a:solidFill>
                  <a:schemeClr val="tx1"/>
                </a:solidFill>
              </a:rPr>
              <a:t>Méthodes certifiées NGSP, raccordées IFCC</a:t>
            </a:r>
            <a:endParaRPr lang="en-US" sz="1300" dirty="0"/>
          </a:p>
        </p:txBody>
      </p:sp>
      <p:sp>
        <p:nvSpPr>
          <p:cNvPr id="21" name="Text 14"/>
          <p:cNvSpPr txBox="1"/>
          <p:nvPr/>
        </p:nvSpPr>
        <p:spPr>
          <a:xfrm>
            <a:off x="3749040" y="1188720"/>
            <a:ext cx="2651760" cy="1188720"/>
          </a:xfrm>
          <a:prstGeom prst="rect">
            <a:avLst/>
          </a:prstGeom>
          <a:noFill/>
          <a:ln/>
        </p:spPr>
        <p:txBody>
          <a:bodyPr wrap="square" lIns="0" tIns="0" rIns="0" bIns="0" rtlCol="0" anchor="ctr"/>
          <a:lstStyle/>
          <a:p>
            <a:pPr indent="0" marL="0">
              <a:buNone/>
            </a:pPr>
            <a:r>
              <a:rPr lang="en-US" sz="1500" i="1" dirty="0">
                <a:solidFill>
                  <a:schemeClr val="accent1"/>
                </a:solidFill>
                <a:latin typeface="Cambria" pitchFamily="34" charset="0"/>
                <a:ea typeface="Cambria" pitchFamily="34" charset="-122"/>
                <a:cs typeface="Cambria" pitchFamily="34" charset="-120"/>
              </a:rPr>
              <a:t>La glycation, c'est lent : un tube bien conservé reste fiable</a:t>
            </a:r>
            <a:endParaRPr lang="en-US" sz="1500" dirty="0"/>
          </a:p>
        </p:txBody>
      </p:sp>
      <p:sp>
        <p:nvSpPr>
          <p:cNvPr id="23" name="Text 0"/>
          <p:cNvSpPr/>
          <p:nvPr>
            <p:ph idx="101" hasCustomPrompt="1"/>
          </p:nvPr>
        </p:nvSpPr>
        <p:spPr>
          <a:xfrm>
            <a:off x="6629400" y="320040"/>
            <a:ext cx="2057400" cy="205740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58521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Les pièges à repérer</a:t>
            </a:r>
            <a:endParaRPr lang="en-US" sz="3200" dirty="0"/>
          </a:p>
        </p:txBody>
      </p:sp>
      <p:sp>
        <p:nvSpPr>
          <p:cNvPr id="3" name="Cadre photo"/>
          <p:cNvSpPr/>
          <p:nvPr/>
        </p:nvSpPr>
        <p:spPr>
          <a:xfrm>
            <a:off x="6629400" y="320040"/>
            <a:ext cx="2057400" cy="2057400"/>
          </a:xfrm>
          <a:prstGeom prst="roundRect">
            <a:avLst>
              <a:gd name="adj" fmla="val 15556"/>
            </a:avLst>
          </a:prstGeom>
          <a:solidFill>
            <a:schemeClr val="bg1"/>
          </a:solidFill>
          <a:ln w="25400">
            <a:solidFill>
              <a:schemeClr val="accent1"/>
            </a:solidFill>
            <a:prstDash val="dash"/>
          </a:ln>
        </p:spPr>
      </p:sp>
      <p:pic>
        <p:nvPicPr>
          <p:cNvPr id="4" name="Cœur" descr="preencoded.png">    </p:cNvPr>
          <p:cNvPicPr>
            <a:picLocks noChangeAspect="1"/>
          </p:cNvPicPr>
          <p:nvPr/>
        </p:nvPicPr>
        <p:blipFill>
          <a:blip r:embed="rId1"/>
          <a:stretch>
            <a:fillRect/>
          </a:stretch>
        </p:blipFill>
        <p:spPr>
          <a:xfrm>
            <a:off x="7452360" y="891540"/>
            <a:ext cx="411480" cy="411480"/>
          </a:xfrm>
          <a:prstGeom prst="rect">
            <a:avLst/>
          </a:prstGeom>
        </p:spPr>
      </p:pic>
      <p:sp>
        <p:nvSpPr>
          <p:cNvPr id="5" name="Légende photo"/>
          <p:cNvSpPr txBox="1"/>
          <p:nvPr/>
        </p:nvSpPr>
        <p:spPr>
          <a:xfrm>
            <a:off x="6720840" y="1394460"/>
            <a:ext cx="1874520" cy="548640"/>
          </a:xfrm>
          <a:prstGeom prst="rect">
            <a:avLst/>
          </a:prstGeom>
          <a:noFill/>
          <a:ln/>
        </p:spPr>
        <p:txBody>
          <a:bodyPr wrap="square" rtlCol="0" anchor="t"/>
          <a:lstStyle/>
          <a:p>
            <a:pPr algn="ctr" indent="0" marL="0">
              <a:buNone/>
            </a:pPr>
            <a:r>
              <a:rPr lang="en-US" sz="1100" i="1" dirty="0">
                <a:solidFill>
                  <a:schemeClr val="accent4"/>
                </a:solidFill>
              </a:rPr>
              <a:t>Photo Harry Styles</a:t>
            </a:r>
            <a:endParaRPr lang="en-US" sz="1100" dirty="0"/>
          </a:p>
        </p:txBody>
      </p:sp>
      <p:sp>
        <p:nvSpPr>
          <p:cNvPr id="6" name="Shape 3"/>
          <p:cNvSpPr/>
          <p:nvPr/>
        </p:nvSpPr>
        <p:spPr>
          <a:xfrm>
            <a:off x="457200" y="1234440"/>
            <a:ext cx="2788920" cy="1965960"/>
          </a:xfrm>
          <a:prstGeom prst="roundRect">
            <a:avLst>
              <a:gd name="adj" fmla="val 11628"/>
            </a:avLst>
          </a:prstGeom>
          <a:solidFill>
            <a:schemeClr val="accent3"/>
          </a:solidFill>
          <a:ln w="19050">
            <a:solidFill>
              <a:schemeClr val="accent2"/>
            </a:solidFill>
            <a:prstDash val="solid"/>
          </a:ln>
        </p:spPr>
      </p:sp>
      <p:sp>
        <p:nvSpPr>
          <p:cNvPr id="7" name="Text 4"/>
          <p:cNvSpPr txBox="1"/>
          <p:nvPr/>
        </p:nvSpPr>
        <p:spPr>
          <a:xfrm>
            <a:off x="640080" y="1325880"/>
            <a:ext cx="2423160" cy="411480"/>
          </a:xfrm>
          <a:prstGeom prst="rect">
            <a:avLst/>
          </a:prstGeom>
          <a:noFill/>
          <a:ln/>
        </p:spPr>
        <p:txBody>
          <a:bodyPr wrap="square" lIns="0" tIns="0" rIns="0" bIns="0" rtlCol="0" anchor="ctr"/>
          <a:lstStyle/>
          <a:p>
            <a:pPr indent="0" marL="0">
              <a:buNone/>
            </a:pPr>
            <a:r>
              <a:rPr lang="en-US" sz="1700" b="1" dirty="0">
                <a:solidFill>
                  <a:schemeClr val="accent4"/>
                </a:solidFill>
              </a:rPr>
              <a:t>Faussement basse</a:t>
            </a:r>
            <a:endParaRPr lang="en-US" sz="1700" dirty="0"/>
          </a:p>
        </p:txBody>
      </p:sp>
      <p:sp>
        <p:nvSpPr>
          <p:cNvPr id="8" name="Text 5"/>
          <p:cNvSpPr txBox="1"/>
          <p:nvPr/>
        </p:nvSpPr>
        <p:spPr>
          <a:xfrm>
            <a:off x="640080" y="1783080"/>
            <a:ext cx="24688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Hémolyse, anémie hémolytique</a:t>
            </a:r>
            <a:endParaRPr lang="en-US" sz="1300" dirty="0"/>
          </a:p>
          <a:p>
            <a:pPr marL="342900" indent="-342900">
              <a:spcAft>
                <a:spcPts val="600"/>
              </a:spcAft>
              <a:buSzPct val="100000"/>
              <a:buChar char="•"/>
            </a:pPr>
            <a:r>
              <a:rPr lang="en-US" sz="1300" dirty="0">
                <a:solidFill>
                  <a:schemeClr val="tx1"/>
                </a:solidFill>
              </a:rPr>
              <a:t>Hémorragie, transfusion récente</a:t>
            </a:r>
            <a:endParaRPr lang="en-US" sz="1300" dirty="0"/>
          </a:p>
          <a:p>
            <a:pPr marL="342900" indent="-342900">
              <a:spcAft>
                <a:spcPts val="600"/>
              </a:spcAft>
              <a:buSzPct val="100000"/>
              <a:buChar char="•"/>
            </a:pPr>
            <a:r>
              <a:rPr lang="en-US" sz="1300" dirty="0">
                <a:solidFill>
                  <a:schemeClr val="tx1"/>
                </a:solidFill>
              </a:rPr>
              <a:t>Grossesse (renouvellement GR)</a:t>
            </a:r>
            <a:endParaRPr lang="en-US" sz="1300" dirty="0"/>
          </a:p>
        </p:txBody>
      </p:sp>
      <p:sp>
        <p:nvSpPr>
          <p:cNvPr id="9" name="Shape 6"/>
          <p:cNvSpPr/>
          <p:nvPr/>
        </p:nvSpPr>
        <p:spPr>
          <a:xfrm>
            <a:off x="3474720" y="1234440"/>
            <a:ext cx="2788920" cy="1965960"/>
          </a:xfrm>
          <a:prstGeom prst="roundRect">
            <a:avLst>
              <a:gd name="adj" fmla="val 11628"/>
            </a:avLst>
          </a:prstGeom>
          <a:solidFill>
            <a:schemeClr val="bg1"/>
          </a:solidFill>
          <a:ln w="19050">
            <a:solidFill>
              <a:schemeClr val="accent2"/>
            </a:solidFill>
            <a:prstDash val="solid"/>
          </a:ln>
        </p:spPr>
      </p:sp>
      <p:sp>
        <p:nvSpPr>
          <p:cNvPr id="10" name="Text 7"/>
          <p:cNvSpPr txBox="1"/>
          <p:nvPr/>
        </p:nvSpPr>
        <p:spPr>
          <a:xfrm>
            <a:off x="3657600" y="1325880"/>
            <a:ext cx="2423160" cy="411480"/>
          </a:xfrm>
          <a:prstGeom prst="rect">
            <a:avLst/>
          </a:prstGeom>
          <a:noFill/>
          <a:ln/>
        </p:spPr>
        <p:txBody>
          <a:bodyPr wrap="square" lIns="0" tIns="0" rIns="0" bIns="0" rtlCol="0" anchor="ctr"/>
          <a:lstStyle/>
          <a:p>
            <a:pPr indent="0" marL="0">
              <a:buNone/>
            </a:pPr>
            <a:r>
              <a:rPr lang="en-US" sz="1700" b="1" dirty="0">
                <a:solidFill>
                  <a:schemeClr val="accent4"/>
                </a:solidFill>
              </a:rPr>
              <a:t>Faussement haute</a:t>
            </a:r>
            <a:endParaRPr lang="en-US" sz="1700" dirty="0"/>
          </a:p>
        </p:txBody>
      </p:sp>
      <p:sp>
        <p:nvSpPr>
          <p:cNvPr id="11" name="Text 8"/>
          <p:cNvSpPr txBox="1"/>
          <p:nvPr/>
        </p:nvSpPr>
        <p:spPr>
          <a:xfrm>
            <a:off x="3657600" y="1783080"/>
            <a:ext cx="24688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Carence martiale</a:t>
            </a:r>
            <a:endParaRPr lang="en-US" sz="1300" dirty="0"/>
          </a:p>
          <a:p>
            <a:pPr marL="342900" indent="-342900">
              <a:spcAft>
                <a:spcPts val="600"/>
              </a:spcAft>
              <a:buSzPct val="100000"/>
              <a:buChar char="•"/>
            </a:pPr>
            <a:r>
              <a:rPr lang="en-US" sz="1300" dirty="0">
                <a:solidFill>
                  <a:schemeClr val="tx1"/>
                </a:solidFill>
              </a:rPr>
              <a:t>Insuffisance rénale chronique</a:t>
            </a:r>
            <a:endParaRPr lang="en-US" sz="1300" dirty="0"/>
          </a:p>
          <a:p>
            <a:pPr marL="342900" indent="-342900">
              <a:spcAft>
                <a:spcPts val="600"/>
              </a:spcAft>
              <a:buSzPct val="100000"/>
              <a:buChar char="•"/>
            </a:pPr>
            <a:r>
              <a:rPr lang="en-US" sz="1300" dirty="0">
                <a:solidFill>
                  <a:schemeClr val="tx1"/>
                </a:solidFill>
              </a:rPr>
              <a:t>Certains variants selon méthode</a:t>
            </a:r>
            <a:endParaRPr lang="en-US" sz="1300" dirty="0"/>
          </a:p>
        </p:txBody>
      </p:sp>
      <p:sp>
        <p:nvSpPr>
          <p:cNvPr id="12" name="Shape 9"/>
          <p:cNvSpPr/>
          <p:nvPr/>
        </p:nvSpPr>
        <p:spPr>
          <a:xfrm>
            <a:off x="457200" y="3429000"/>
            <a:ext cx="8229600" cy="1188720"/>
          </a:xfrm>
          <a:prstGeom prst="roundRect">
            <a:avLst>
              <a:gd name="adj" fmla="val 23077"/>
            </a:avLst>
          </a:prstGeom>
          <a:solidFill>
            <a:schemeClr val="accent1"/>
          </a:solidFill>
          <a:ln/>
        </p:spPr>
      </p:sp>
      <p:sp>
        <p:nvSpPr>
          <p:cNvPr id="13" name="Shape 10"/>
          <p:cNvSpPr/>
          <p:nvPr/>
        </p:nvSpPr>
        <p:spPr>
          <a:xfrm>
            <a:off x="685800" y="374904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822960" y="3886200"/>
            <a:ext cx="274320" cy="274320"/>
          </a:xfrm>
          <a:prstGeom prst="rect">
            <a:avLst/>
          </a:prstGeom>
        </p:spPr>
      </p:pic>
      <p:sp>
        <p:nvSpPr>
          <p:cNvPr id="15" name="Shape 11"/>
          <p:cNvSpPr/>
          <p:nvPr/>
        </p:nvSpPr>
        <p:spPr>
          <a:xfrm>
            <a:off x="685800" y="3749040"/>
            <a:ext cx="548640" cy="548640"/>
          </a:xfrm>
          <a:prstGeom prst="ellipse">
            <a:avLst/>
          </a:prstGeom>
          <a:ln w="19050">
            <a:solidFill>
              <a:schemeClr val="bg1"/>
            </a:solidFill>
            <a:prstDash val="solid"/>
          </a:ln>
        </p:spPr>
      </p:sp>
      <p:sp>
        <p:nvSpPr>
          <p:cNvPr id="16" name="Text 12"/>
          <p:cNvSpPr txBox="1"/>
          <p:nvPr/>
        </p:nvSpPr>
        <p:spPr>
          <a:xfrm>
            <a:off x="1463040" y="3520440"/>
            <a:ext cx="6492240" cy="1005840"/>
          </a:xfrm>
          <a:prstGeom prst="rect">
            <a:avLst/>
          </a:prstGeom>
          <a:noFill/>
          <a:ln/>
        </p:spPr>
        <p:txBody>
          <a:bodyPr wrap="square" lIns="0" tIns="0" rIns="0" bIns="0" rtlCol="0" anchor="ctr"/>
          <a:lstStyle/>
          <a:p>
            <a:pPr indent="0" marL="0">
              <a:buNone/>
            </a:pPr>
            <a:r>
              <a:rPr lang="en-US" sz="1400" b="1" dirty="0">
                <a:solidFill>
                  <a:schemeClr val="bg1"/>
                </a:solidFill>
              </a:rPr>
              <a:t>Le bon réflexe : </a:t>
            </a:r>
            <a:pPr indent="0" marL="0">
              <a:buNone/>
            </a:pPr>
            <a:r>
              <a:rPr lang="en-US" sz="1400" dirty="0">
                <a:solidFill>
                  <a:schemeClr val="bg1"/>
                </a:solidFill>
              </a:rPr>
              <a:t>pic anormal, variant d'hémoglobine (HbS, HbC, HbE, HbF élevée) ou résultat incohérent ? On ne rend pas : on signale au biologiste, CIQ et chromatogramme à l'appui.</a:t>
            </a:r>
            <a:endParaRPr lang="en-US" sz="1400" dirty="0"/>
          </a:p>
        </p:txBody>
      </p:sp>
      <p:pic>
        <p:nvPicPr>
          <p:cNvPr id="17" name="Image 2" descr="preencoded.png">    </p:cNvPr>
          <p:cNvPicPr>
            <a:picLocks noChangeAspect="1"/>
          </p:cNvPicPr>
          <p:nvPr/>
        </p:nvPicPr>
        <p:blipFill>
          <a:blip r:embed="rId3"/>
          <a:stretch>
            <a:fillRect/>
          </a:stretch>
        </p:blipFill>
        <p:spPr>
          <a:xfrm>
            <a:off x="8092440" y="3840480"/>
            <a:ext cx="365760" cy="365760"/>
          </a:xfrm>
          <a:prstGeom prst="rect">
            <a:avLst/>
          </a:prstGeom>
        </p:spPr>
      </p:pic>
      <p:sp>
        <p:nvSpPr>
          <p:cNvPr id="19" name="Text 0"/>
          <p:cNvSpPr/>
          <p:nvPr>
            <p:ph idx="101" hasCustomPrompt="1"/>
          </p:nvPr>
        </p:nvSpPr>
        <p:spPr>
          <a:xfrm>
            <a:off x="6629400" y="320040"/>
            <a:ext cx="2057400" cy="205740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Cerballiance Rose">
  <a:themeElements>
    <a:clrScheme name="Cerballiance Rose">
      <a:dk1>
        <a:srgbClr val="5A1638"/>
      </a:dk1>
      <a:lt1>
        <a:srgbClr val="FFFFFF"/>
      </a:lt1>
      <a:dk2>
        <a:srgbClr val="8C2155"/>
      </a:dk2>
      <a:lt2>
        <a:srgbClr val="FFF0F6"/>
      </a:lt2>
      <a:accent1>
        <a:srgbClr val="E0457B"/>
      </a:accent1>
      <a:accent2>
        <a:srgbClr val="F7B6CE"/>
      </a:accent2>
      <a:accent3>
        <a:srgbClr val="FBD9E6"/>
      </a:accent3>
      <a:accent4>
        <a:srgbClr val="B8336A"/>
      </a:accent4>
      <a:accent5>
        <a:srgbClr val="FF8FB1"/>
      </a:accent5>
      <a:accent6>
        <a:srgbClr val="D4A017"/>
      </a:accent6>
      <a:hlink>
        <a:srgbClr val="E0457B"/>
      </a:hlink>
      <a:folHlink>
        <a:srgbClr val="8C2155"/>
      </a:folHlink>
    </a:clrScheme>
    <a:fontScheme name="Cerballiance Ro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Cerballiance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L'HbA1c au laboratoire</dc:title>
  <dc:subject>PptxGenJS Presentation</dc:subject>
  <dc:creator>Cerballiance</dc:creator>
  <cp:lastModifiedBy>Cerballiance</cp:lastModifiedBy>
  <cp:revision>1</cp:revision>
  <dcterms:created xsi:type="dcterms:W3CDTF">2026-10-10T09:51:39Z</dcterms:created>
  <dcterms:modified xsi:type="dcterms:W3CDTF">2026-10-10T09:51:39Z</dcterms:modified>
</cp:coreProperties>
</file>